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p:bgPr>
    </p:bg>
    <p:spTree>
      <p:nvGrpSpPr>
        <p:cNvPr id="1" name=""/>
        <p:cNvGrpSpPr/>
        <p:nvPr/>
      </p:nvGrpSpPr>
      <p:grpSpPr>
        <a:xfrm>
          <a:off x="0" y="0"/>
          <a:ext cx="0" cy="0"/>
          <a:chOff x="0" y="0"/>
          <a:chExt cx="0" cy="0"/>
        </a:xfrm>
      </p:grpSpPr>
      <p:pic>
        <p:nvPicPr>
          <p:cNvPr id="2" name="Image 0" descr="C:\Users\yazilimciemir\source\repos\HairDresser-master\docs\gumus-makas-tanitim\kapak.png">    </p:cNvPr>
          <p:cNvPicPr>
            <a:picLocks noChangeAspect="1"/>
          </p:cNvPicPr>
          <p:nvPr/>
        </p:nvPicPr>
        <p:blipFill>
          <a:blip r:embed="rId1"/>
          <a:srcRect l="0" r="0" t="0" b="0"/>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73D62"/>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173D62"/>
                </a:solidFill>
              </a:rPr>
              <a:t>GÜMÜŞ MAKAS</a:t>
            </a:r>
            <a:endParaRPr lang="en-US" sz="28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400" dirty="0">
                <a:solidFill>
                  <a:srgbClr val="555555"/>
                </a:solidFill>
              </a:rPr>
              <a:t>Yavuzan Teknoloji ve Ticaret Ltd. Şti.</a:t>
            </a:r>
            <a:endParaRPr lang="en-US" sz="1400" dirty="0"/>
          </a:p>
        </p:txBody>
      </p:sp>
      <p:sp>
        <p:nvSpPr>
          <p:cNvPr id="5" name="Text 3"/>
          <p:cNvSpPr/>
          <p:nvPr/>
        </p:nvSpPr>
        <p:spPr>
          <a:xfrm>
            <a:off x="502920" y="1417320"/>
            <a:ext cx="8138160" cy="4389120"/>
          </a:xfrm>
          <a:prstGeom prst="rect">
            <a:avLst/>
          </a:prstGeom>
          <a:noFill/>
          <a:ln/>
        </p:spPr>
        <p:txBody>
          <a:bodyPr wrap="square" rtlCol="0" anchor="t"/>
          <a:lstStyle/>
          <a:p>
            <a:pPr indent="0" marL="0">
              <a:lnSpc>
                <a:spcPts val="2400"/>
              </a:lnSpc>
              <a:buNone/>
            </a:pPr>
            <a:r>
              <a:rPr lang="en-US" sz="1500" dirty="0">
                <a:solidFill>
                  <a:srgbClr val="1A1A1A"/>
                </a:solidFill>
              </a:rPr>
              <a:t>Gümüş Makas, müşterileri, işletmeleri ve serbest çalışan profesyonelleri tek platformda buluşturan yeni nesil randevu ve iş yönetimi uygulamasıdır.</a:t>
            </a:r>
            <a:endParaRPr lang="en-US" sz="1500" dirty="0"/>
          </a:p>
          <a:p>
            <a:pPr indent="0" marL="0">
              <a:lnSpc>
                <a:spcPts val="2400"/>
              </a:lnSpc>
              <a:buNone/>
            </a:pPr>
            <a:endParaRPr lang="en-US" sz="1500" dirty="0"/>
          </a:p>
          <a:p>
            <a:pPr indent="0" marL="0">
              <a:lnSpc>
                <a:spcPts val="2400"/>
              </a:lnSpc>
              <a:buNone/>
            </a:pPr>
            <a:r>
              <a:rPr lang="en-US" sz="1500" dirty="0">
                <a:solidFill>
                  <a:srgbClr val="1A1A1A"/>
                </a:solidFill>
              </a:rPr>
              <a:t>Sadece randevu oluşturmanın ötesinde; işletmelerin boş kapasitesini değerlendirmesine, boş koltuklarını hem serbest çalışanlara hem de müşterilere ulaştırmasına, serbest çalışan profesyonellerin yeni müşterilere ve uygun işletmelere kolayca erişmesine, kullanıcıların ise istedikleri yerde, istedikleri profesyonelden güvenli ve hızlı şekilde hizmet almasına olanak sağlayan kapsamlı bir dijital ekosistem sunar.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73D62"/>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800" b="1" dirty="0">
                <a:solidFill>
                  <a:srgbClr val="173D62"/>
                </a:solidFill>
              </a:rPr>
              <a:t>Öne Çıkan Özellikler</a:t>
            </a:r>
            <a:endParaRPr lang="en-US" sz="2800" dirty="0"/>
          </a:p>
        </p:txBody>
      </p:sp>
      <p:sp>
        <p:nvSpPr>
          <p:cNvPr id="4" name="Text 2"/>
          <p:cNvSpPr/>
          <p:nvPr/>
        </p:nvSpPr>
        <p:spPr>
          <a:xfrm>
            <a:off x="640080" y="1463040"/>
            <a:ext cx="8046720" cy="4114800"/>
          </a:xfrm>
          <a:prstGeom prst="rect">
            <a:avLst/>
          </a:prstGeom>
          <a:noFill/>
          <a:ln/>
        </p:spPr>
        <p:txBody>
          <a:bodyPr wrap="square" rtlCol="0" anchor="ctr"/>
          <a:lstStyle/>
          <a:p>
            <a:pPr marL="342900" indent="-342900">
              <a:lnSpc>
                <a:spcPts val="2800"/>
              </a:lnSpc>
              <a:buSzPct val="100000"/>
              <a:buChar char="•"/>
            </a:pPr>
            <a:r>
              <a:rPr lang="en-US" sz="1600" dirty="0">
                <a:solidFill>
                  <a:srgbClr val="1A1A1A"/>
                </a:solidFill>
              </a:rPr>
              <a:t>Online randevu sistemi</a:t>
            </a:r>
            <a:endParaRPr lang="en-US" sz="1600" dirty="0"/>
          </a:p>
          <a:p>
            <a:pPr marL="342900" indent="-342900">
              <a:lnSpc>
                <a:spcPts val="2800"/>
              </a:lnSpc>
              <a:buSzPct val="100000"/>
              <a:buChar char="•"/>
            </a:pPr>
            <a:r>
              <a:rPr lang="en-US" sz="1600" dirty="0">
                <a:solidFill>
                  <a:srgbClr val="1A1A1A"/>
                </a:solidFill>
              </a:rPr>
              <a:t>İşletme, serbest çalışan ve kullanıcı profilleri</a:t>
            </a:r>
            <a:endParaRPr lang="en-US" sz="1600" dirty="0"/>
          </a:p>
          <a:p>
            <a:pPr marL="342900" indent="-342900">
              <a:lnSpc>
                <a:spcPts val="2800"/>
              </a:lnSpc>
              <a:buSzPct val="100000"/>
              <a:buChar char="•"/>
            </a:pPr>
            <a:r>
              <a:rPr lang="en-US" sz="1600" dirty="0">
                <a:solidFill>
                  <a:srgbClr val="1A1A1A"/>
                </a:solidFill>
              </a:rPr>
              <a:t>Boş koltuk ve çalışma alanı paylaşımı</a:t>
            </a:r>
            <a:endParaRPr lang="en-US" sz="1600" dirty="0"/>
          </a:p>
          <a:p>
            <a:pPr marL="342900" indent="-342900">
              <a:lnSpc>
                <a:spcPts val="2800"/>
              </a:lnSpc>
              <a:buSzPct val="100000"/>
              <a:buChar char="•"/>
            </a:pPr>
            <a:r>
              <a:rPr lang="en-US" sz="1600" dirty="0">
                <a:solidFill>
                  <a:srgbClr val="1A1A1A"/>
                </a:solidFill>
              </a:rPr>
              <a:t>Güvenli ve doğrulanmış işletme yapısı</a:t>
            </a:r>
            <a:endParaRPr lang="en-US" sz="1600" dirty="0"/>
          </a:p>
          <a:p>
            <a:pPr marL="342900" indent="-342900">
              <a:lnSpc>
                <a:spcPts val="2800"/>
              </a:lnSpc>
              <a:buSzPct val="100000"/>
              <a:buChar char="•"/>
            </a:pPr>
            <a:r>
              <a:rPr lang="en-US" sz="1600" dirty="0">
                <a:solidFill>
                  <a:srgbClr val="1A1A1A"/>
                </a:solidFill>
              </a:rPr>
              <a:t>Kampanya ve reklam yönetimi</a:t>
            </a:r>
            <a:endParaRPr lang="en-US" sz="1600" dirty="0"/>
          </a:p>
          <a:p>
            <a:pPr marL="342900" indent="-342900">
              <a:lnSpc>
                <a:spcPts val="2800"/>
              </a:lnSpc>
              <a:buSzPct val="100000"/>
              <a:buChar char="•"/>
            </a:pPr>
            <a:r>
              <a:rPr lang="en-US" sz="1600" dirty="0">
                <a:solidFill>
                  <a:srgbClr val="1A1A1A"/>
                </a:solidFill>
              </a:rPr>
              <a:t>Konum bazlı hızlı keşif (haritada ara)</a:t>
            </a:r>
            <a:endParaRPr lang="en-US" sz="1600" dirty="0"/>
          </a:p>
          <a:p>
            <a:pPr marL="342900" indent="-342900">
              <a:lnSpc>
                <a:spcPts val="2800"/>
              </a:lnSpc>
              <a:buSzPct val="100000"/>
              <a:buChar char="•"/>
            </a:pPr>
            <a:r>
              <a:rPr lang="en-US" sz="1600" dirty="0">
                <a:solidFill>
                  <a:srgbClr val="1A1A1A"/>
                </a:solidFill>
              </a:rPr>
              <a:t>Sektöre yön verecek özel dijital dönüşüm altyapısı</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73D62"/>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400" b="1" dirty="0">
                <a:solidFill>
                  <a:srgbClr val="173D62"/>
                </a:solidFill>
              </a:rPr>
              <a:t>İşletmelere Sağladığı Avantajlar</a:t>
            </a:r>
            <a:endParaRPr lang="en-US" sz="2400" dirty="0"/>
          </a:p>
        </p:txBody>
      </p:sp>
      <p:sp>
        <p:nvSpPr>
          <p:cNvPr id="4" name="Text 2"/>
          <p:cNvSpPr/>
          <p:nvPr/>
        </p:nvSpPr>
        <p:spPr>
          <a:xfrm>
            <a:off x="502920" y="1097280"/>
            <a:ext cx="8046720" cy="320040"/>
          </a:xfrm>
          <a:prstGeom prst="rect">
            <a:avLst/>
          </a:prstGeom>
          <a:noFill/>
          <a:ln/>
        </p:spPr>
        <p:txBody>
          <a:bodyPr wrap="square" rtlCol="0" anchor="ctr"/>
          <a:lstStyle/>
          <a:p>
            <a:pPr indent="0" marL="0">
              <a:buNone/>
            </a:pPr>
            <a:r>
              <a:rPr lang="en-US" sz="1600" b="1" dirty="0">
                <a:solidFill>
                  <a:srgbClr val="173D62"/>
                </a:solidFill>
              </a:rPr>
              <a:t>1. Kendi Müşterisine Randevu Oluşturma</a:t>
            </a:r>
            <a:endParaRPr lang="en-US" sz="1600" dirty="0"/>
          </a:p>
        </p:txBody>
      </p:sp>
      <p:sp>
        <p:nvSpPr>
          <p:cNvPr id="5" name="Text 3"/>
          <p:cNvSpPr/>
          <p:nvPr/>
        </p:nvSpPr>
        <p:spPr>
          <a:xfrm>
            <a:off x="685800" y="1444752"/>
            <a:ext cx="7772400" cy="777240"/>
          </a:xfrm>
          <a:prstGeom prst="rect">
            <a:avLst/>
          </a:prstGeom>
          <a:noFill/>
          <a:ln/>
        </p:spPr>
        <p:txBody>
          <a:bodyPr wrap="square" rtlCol="0" anchor="ctr"/>
          <a:lstStyle/>
          <a:p>
            <a:pPr indent="0" marL="0">
              <a:lnSpc>
                <a:spcPts val="1800"/>
              </a:lnSpc>
              <a:buNone/>
            </a:pPr>
            <a:r>
              <a:rPr lang="en-US" sz="1300" dirty="0">
                <a:solidFill>
                  <a:srgbClr val="1A1A1A"/>
                </a:solidFill>
              </a:rPr>
              <a:t>İşletme, uygulama üzerinden kendi müşterileri adına hızlı ve kolay şekilde randevu oluşturabilir, takvimini etkin şekilde yönetebilir.</a:t>
            </a:r>
            <a:endParaRPr lang="en-US" sz="1300" dirty="0"/>
          </a:p>
        </p:txBody>
      </p:sp>
      <p:sp>
        <p:nvSpPr>
          <p:cNvPr id="6" name="Text 4"/>
          <p:cNvSpPr/>
          <p:nvPr/>
        </p:nvSpPr>
        <p:spPr>
          <a:xfrm>
            <a:off x="502920" y="2331720"/>
            <a:ext cx="8046720" cy="320040"/>
          </a:xfrm>
          <a:prstGeom prst="rect">
            <a:avLst/>
          </a:prstGeom>
          <a:noFill/>
          <a:ln/>
        </p:spPr>
        <p:txBody>
          <a:bodyPr wrap="square" rtlCol="0" anchor="ctr"/>
          <a:lstStyle/>
          <a:p>
            <a:pPr indent="0" marL="0">
              <a:buNone/>
            </a:pPr>
            <a:r>
              <a:rPr lang="en-US" sz="1600" b="1" dirty="0">
                <a:solidFill>
                  <a:srgbClr val="173D62"/>
                </a:solidFill>
              </a:rPr>
              <a:t>2. Serbest Çalışan İçin Koltuk Kiralama</a:t>
            </a:r>
            <a:endParaRPr lang="en-US" sz="1600" dirty="0"/>
          </a:p>
        </p:txBody>
      </p:sp>
      <p:sp>
        <p:nvSpPr>
          <p:cNvPr id="7" name="Text 5"/>
          <p:cNvSpPr/>
          <p:nvPr/>
        </p:nvSpPr>
        <p:spPr>
          <a:xfrm>
            <a:off x="685800" y="2679192"/>
            <a:ext cx="7772400" cy="777240"/>
          </a:xfrm>
          <a:prstGeom prst="rect">
            <a:avLst/>
          </a:prstGeom>
          <a:noFill/>
          <a:ln/>
        </p:spPr>
        <p:txBody>
          <a:bodyPr wrap="square" rtlCol="0" anchor="ctr"/>
          <a:lstStyle/>
          <a:p>
            <a:pPr indent="0" marL="0">
              <a:lnSpc>
                <a:spcPts val="1800"/>
              </a:lnSpc>
              <a:buNone/>
            </a:pPr>
            <a:r>
              <a:rPr lang="en-US" sz="1300" dirty="0">
                <a:solidFill>
                  <a:srgbClr val="1A1A1A"/>
                </a:solidFill>
              </a:rPr>
              <a:t>Belge sahibi serbest çalışan profesyoneller, işletmenin boş koltuklarını belirlenen süre veya şartlarda kiralayabilir. Böylece işletmenin atıl kapasitesi gelire dönüşür.</a:t>
            </a:r>
            <a:endParaRPr lang="en-US" sz="1300" dirty="0"/>
          </a:p>
        </p:txBody>
      </p:sp>
      <p:sp>
        <p:nvSpPr>
          <p:cNvPr id="8" name="Text 6"/>
          <p:cNvSpPr/>
          <p:nvPr/>
        </p:nvSpPr>
        <p:spPr>
          <a:xfrm>
            <a:off x="502920" y="3566160"/>
            <a:ext cx="8046720" cy="320040"/>
          </a:xfrm>
          <a:prstGeom prst="rect">
            <a:avLst/>
          </a:prstGeom>
          <a:noFill/>
          <a:ln/>
        </p:spPr>
        <p:txBody>
          <a:bodyPr wrap="square" rtlCol="0" anchor="ctr"/>
          <a:lstStyle/>
          <a:p>
            <a:pPr indent="0" marL="0">
              <a:buNone/>
            </a:pPr>
            <a:r>
              <a:rPr lang="en-US" sz="1600" b="1" dirty="0">
                <a:solidFill>
                  <a:srgbClr val="173D62"/>
                </a:solidFill>
              </a:rPr>
              <a:t>3. En Yakın Serbest Çalışanı Anlık Çağırma</a:t>
            </a:r>
            <a:endParaRPr lang="en-US" sz="1600" dirty="0"/>
          </a:p>
        </p:txBody>
      </p:sp>
      <p:sp>
        <p:nvSpPr>
          <p:cNvPr id="9" name="Text 7"/>
          <p:cNvSpPr/>
          <p:nvPr/>
        </p:nvSpPr>
        <p:spPr>
          <a:xfrm>
            <a:off x="685800" y="3913632"/>
            <a:ext cx="7772400" cy="777240"/>
          </a:xfrm>
          <a:prstGeom prst="rect">
            <a:avLst/>
          </a:prstGeom>
          <a:noFill/>
          <a:ln/>
        </p:spPr>
        <p:txBody>
          <a:bodyPr wrap="square" rtlCol="0" anchor="ctr"/>
          <a:lstStyle/>
          <a:p>
            <a:pPr indent="0" marL="0">
              <a:lnSpc>
                <a:spcPts val="1800"/>
              </a:lnSpc>
              <a:buNone/>
            </a:pPr>
            <a:r>
              <a:rPr lang="en-US" sz="1300" dirty="0">
                <a:solidFill>
                  <a:srgbClr val="1A1A1A"/>
                </a:solidFill>
              </a:rPr>
              <a:t>Yoğunluk yaşandığında işletme, konumuna en yakın uygun serbest çalışanı uygulama üzerinden anlık olarak davet ederek müşterisini bekletmeden hizmet verebilir.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73D62"/>
          </a:solidFill>
          <a:ln/>
        </p:spPr>
      </p:sp>
      <p:sp>
        <p:nvSpPr>
          <p:cNvPr id="3" name="Text 1"/>
          <p:cNvSpPr/>
          <p:nvPr/>
        </p:nvSpPr>
        <p:spPr>
          <a:xfrm>
            <a:off x="457200" y="320040"/>
            <a:ext cx="8229600" cy="548640"/>
          </a:xfrm>
          <a:prstGeom prst="rect">
            <a:avLst/>
          </a:prstGeom>
          <a:noFill/>
          <a:ln/>
        </p:spPr>
        <p:txBody>
          <a:bodyPr wrap="square" rtlCol="0" anchor="ctr"/>
          <a:lstStyle/>
          <a:p>
            <a:pPr indent="0" marL="0">
              <a:buNone/>
            </a:pPr>
            <a:r>
              <a:rPr lang="en-US" sz="2400" b="1" dirty="0">
                <a:solidFill>
                  <a:srgbClr val="173D62"/>
                </a:solidFill>
              </a:rPr>
              <a:t>Avantajlar &amp; Ekosistem</a:t>
            </a:r>
            <a:endParaRPr lang="en-US" sz="2400" dirty="0"/>
          </a:p>
        </p:txBody>
      </p:sp>
      <p:sp>
        <p:nvSpPr>
          <p:cNvPr id="4" name="Text 2"/>
          <p:cNvSpPr/>
          <p:nvPr/>
        </p:nvSpPr>
        <p:spPr>
          <a:xfrm>
            <a:off x="502920" y="1051560"/>
            <a:ext cx="8046720" cy="320040"/>
          </a:xfrm>
          <a:prstGeom prst="rect">
            <a:avLst/>
          </a:prstGeom>
          <a:noFill/>
          <a:ln/>
        </p:spPr>
        <p:txBody>
          <a:bodyPr wrap="square" rtlCol="0" anchor="ctr"/>
          <a:lstStyle/>
          <a:p>
            <a:pPr indent="0" marL="0">
              <a:buNone/>
            </a:pPr>
            <a:r>
              <a:rPr lang="en-US" sz="1600" b="1" dirty="0">
                <a:solidFill>
                  <a:srgbClr val="173D62"/>
                </a:solidFill>
              </a:rPr>
              <a:t>4. Güçlü Kombinasyon Sistemi</a:t>
            </a:r>
            <a:endParaRPr lang="en-US" sz="1600" dirty="0"/>
          </a:p>
        </p:txBody>
      </p:sp>
      <p:sp>
        <p:nvSpPr>
          <p:cNvPr id="5" name="Text 3"/>
          <p:cNvSpPr/>
          <p:nvPr/>
        </p:nvSpPr>
        <p:spPr>
          <a:xfrm>
            <a:off x="685800" y="1399032"/>
            <a:ext cx="7772400" cy="685800"/>
          </a:xfrm>
          <a:prstGeom prst="rect">
            <a:avLst/>
          </a:prstGeom>
          <a:noFill/>
          <a:ln/>
        </p:spPr>
        <p:txBody>
          <a:bodyPr wrap="square" rtlCol="0" anchor="ctr"/>
          <a:lstStyle/>
          <a:p>
            <a:pPr indent="0" marL="0">
              <a:lnSpc>
                <a:spcPts val="1800"/>
              </a:lnSpc>
              <a:buNone/>
            </a:pPr>
            <a:r>
              <a:rPr lang="en-US" sz="1300" dirty="0">
                <a:solidFill>
                  <a:srgbClr val="1A1A1A"/>
                </a:solidFill>
              </a:rPr>
              <a:t>Serbest çalışanın kendi müşterisi ile işletmenin boş kapasitesi akıllı eşleştirme sistemi sayesinde buluşturulur. Böylece hem serbest çalışan hem işletme hem de müşteri aynı anda kazanır.</a:t>
            </a:r>
            <a:endParaRPr lang="en-US" sz="1300" dirty="0"/>
          </a:p>
        </p:txBody>
      </p:sp>
      <p:sp>
        <p:nvSpPr>
          <p:cNvPr id="6" name="Text 4"/>
          <p:cNvSpPr/>
          <p:nvPr/>
        </p:nvSpPr>
        <p:spPr>
          <a:xfrm>
            <a:off x="502920" y="2194560"/>
            <a:ext cx="8046720" cy="320040"/>
          </a:xfrm>
          <a:prstGeom prst="rect">
            <a:avLst/>
          </a:prstGeom>
          <a:noFill/>
          <a:ln/>
        </p:spPr>
        <p:txBody>
          <a:bodyPr wrap="square" rtlCol="0" anchor="ctr"/>
          <a:lstStyle/>
          <a:p>
            <a:pPr indent="0" marL="0">
              <a:buNone/>
            </a:pPr>
            <a:r>
              <a:rPr lang="en-US" sz="1600" b="1" dirty="0">
                <a:solidFill>
                  <a:srgbClr val="173D62"/>
                </a:solidFill>
              </a:rPr>
              <a:t>5. Mobil ve Esnek Çalışma İmkânı</a:t>
            </a:r>
            <a:endParaRPr lang="en-US" sz="1600" dirty="0"/>
          </a:p>
        </p:txBody>
      </p:sp>
      <p:sp>
        <p:nvSpPr>
          <p:cNvPr id="7" name="Text 5"/>
          <p:cNvSpPr/>
          <p:nvPr/>
        </p:nvSpPr>
        <p:spPr>
          <a:xfrm>
            <a:off x="685800" y="2542032"/>
            <a:ext cx="7772400" cy="685800"/>
          </a:xfrm>
          <a:prstGeom prst="rect">
            <a:avLst/>
          </a:prstGeom>
          <a:noFill/>
          <a:ln/>
        </p:spPr>
        <p:txBody>
          <a:bodyPr wrap="square" rtlCol="0" anchor="ctr"/>
          <a:lstStyle/>
          <a:p>
            <a:pPr indent="0" marL="0">
              <a:lnSpc>
                <a:spcPts val="1800"/>
              </a:lnSpc>
              <a:buNone/>
            </a:pPr>
            <a:r>
              <a:rPr lang="en-US" sz="1300" dirty="0">
                <a:solidFill>
                  <a:srgbClr val="1A1A1A"/>
                </a:solidFill>
              </a:rPr>
              <a:t>İşletme sahibi veya çalışan profesyoneller, diledikleri zaman farklı işletmelerde serbest çalışan olarak hizmet verebilir ve ek gelir elde edebilir.</a:t>
            </a:r>
            <a:endParaRPr lang="en-US" sz="1300" dirty="0"/>
          </a:p>
        </p:txBody>
      </p:sp>
      <p:sp>
        <p:nvSpPr>
          <p:cNvPr id="8" name="Text 6"/>
          <p:cNvSpPr/>
          <p:nvPr/>
        </p:nvSpPr>
        <p:spPr>
          <a:xfrm>
            <a:off x="502920" y="3246120"/>
            <a:ext cx="8046720" cy="365760"/>
          </a:xfrm>
          <a:prstGeom prst="rect">
            <a:avLst/>
          </a:prstGeom>
          <a:noFill/>
          <a:ln/>
        </p:spPr>
        <p:txBody>
          <a:bodyPr wrap="square" rtlCol="0" anchor="ctr"/>
          <a:lstStyle/>
          <a:p>
            <a:pPr indent="0" marL="0">
              <a:buNone/>
            </a:pPr>
            <a:r>
              <a:rPr lang="en-US" sz="1800" b="1" dirty="0">
                <a:solidFill>
                  <a:srgbClr val="C9A227"/>
                </a:solidFill>
              </a:rPr>
              <a:t>Gümüş Makas Ekosistemi</a:t>
            </a:r>
            <a:endParaRPr lang="en-US" sz="1800" dirty="0"/>
          </a:p>
        </p:txBody>
      </p:sp>
      <p:sp>
        <p:nvSpPr>
          <p:cNvPr id="9" name="Text 7"/>
          <p:cNvSpPr/>
          <p:nvPr/>
        </p:nvSpPr>
        <p:spPr>
          <a:xfrm>
            <a:off x="502920" y="3611880"/>
            <a:ext cx="8046720" cy="411480"/>
          </a:xfrm>
          <a:prstGeom prst="rect">
            <a:avLst/>
          </a:prstGeom>
          <a:noFill/>
          <a:ln/>
        </p:spPr>
        <p:txBody>
          <a:bodyPr wrap="square" rtlCol="0" anchor="ctr"/>
          <a:lstStyle/>
          <a:p>
            <a:pPr indent="0" marL="0">
              <a:buNone/>
            </a:pPr>
            <a:r>
              <a:rPr lang="en-US" sz="1300" dirty="0">
                <a:solidFill>
                  <a:srgbClr val="1A1A1A"/>
                </a:solidFill>
              </a:rPr>
              <a:t>İşletme + Serbest Çalışan + Müşteri üçlüsünü tek platformda bir araya getirerek:</a:t>
            </a:r>
            <a:endParaRPr lang="en-US" sz="1300" dirty="0"/>
          </a:p>
        </p:txBody>
      </p:sp>
      <p:sp>
        <p:nvSpPr>
          <p:cNvPr id="10" name="Text 2"/>
          <p:cNvSpPr/>
          <p:nvPr/>
        </p:nvSpPr>
        <p:spPr>
          <a:xfrm>
            <a:off x="640080" y="3977640"/>
            <a:ext cx="8046720" cy="1645920"/>
          </a:xfrm>
          <a:prstGeom prst="rect">
            <a:avLst/>
          </a:prstGeom>
          <a:noFill/>
          <a:ln/>
        </p:spPr>
        <p:txBody>
          <a:bodyPr wrap="square" rtlCol="0" anchor="ctr"/>
          <a:lstStyle/>
          <a:p>
            <a:pPr marL="342900" indent="-342900">
              <a:lnSpc>
                <a:spcPts val="2800"/>
              </a:lnSpc>
              <a:buSzPct val="100000"/>
              <a:buChar char="•"/>
            </a:pPr>
            <a:r>
              <a:rPr lang="en-US" sz="1400" dirty="0">
                <a:solidFill>
                  <a:srgbClr val="1A1A1A"/>
                </a:solidFill>
              </a:rPr>
              <a:t>Boş koltukların değerlendirilmesini</a:t>
            </a:r>
            <a:endParaRPr lang="en-US" sz="1400" dirty="0"/>
          </a:p>
          <a:p>
            <a:pPr marL="342900" indent="-342900">
              <a:lnSpc>
                <a:spcPts val="2800"/>
              </a:lnSpc>
              <a:buSzPct val="100000"/>
              <a:buChar char="•"/>
            </a:pPr>
            <a:r>
              <a:rPr lang="en-US" sz="1400" dirty="0">
                <a:solidFill>
                  <a:srgbClr val="1A1A1A"/>
                </a:solidFill>
              </a:rPr>
              <a:t>Müşteri kaybının önlenmesini</a:t>
            </a:r>
            <a:endParaRPr lang="en-US" sz="1400" dirty="0"/>
          </a:p>
          <a:p>
            <a:pPr marL="342900" indent="-342900">
              <a:lnSpc>
                <a:spcPts val="2800"/>
              </a:lnSpc>
              <a:buSzPct val="100000"/>
              <a:buChar char="•"/>
            </a:pPr>
            <a:r>
              <a:rPr lang="en-US" sz="1400" dirty="0">
                <a:solidFill>
                  <a:srgbClr val="1A1A1A"/>
                </a:solidFill>
              </a:rPr>
              <a:t>Serbest çalışanların daha fazla iş fırsatına ulaşmasını</a:t>
            </a:r>
            <a:endParaRPr lang="en-US" sz="1400" dirty="0"/>
          </a:p>
          <a:p>
            <a:pPr marL="342900" indent="-342900">
              <a:lnSpc>
                <a:spcPts val="2800"/>
              </a:lnSpc>
              <a:buSzPct val="100000"/>
              <a:buChar char="•"/>
            </a:pPr>
            <a:r>
              <a:rPr lang="en-US" sz="1400" dirty="0">
                <a:solidFill>
                  <a:srgbClr val="1A1A1A"/>
                </a:solidFill>
              </a:rPr>
              <a:t>İşletmelerin gelirlerini artırmasını</a:t>
            </a:r>
            <a:endParaRPr lang="en-US" sz="1400" dirty="0"/>
          </a:p>
          <a:p>
            <a:pPr marL="342900" indent="-342900">
              <a:lnSpc>
                <a:spcPts val="2800"/>
              </a:lnSpc>
              <a:buSzPct val="100000"/>
              <a:buChar char="•"/>
            </a:pPr>
            <a:r>
              <a:rPr lang="en-US" sz="1400" dirty="0">
                <a:solidFill>
                  <a:srgbClr val="1A1A1A"/>
                </a:solidFill>
              </a:rPr>
              <a:t>Kullanıcıların güvenilir ve hızlı hizmet almasını sağlar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73D62"/>
          </a:solidFill>
          <a:ln/>
        </p:spPr>
      </p:sp>
      <p:sp>
        <p:nvSpPr>
          <p:cNvPr id="3" name="Text 1"/>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73D62"/>
                </a:solidFill>
              </a:rPr>
              <a:t>Mobil Uygulama</a:t>
            </a:r>
            <a:endParaRPr lang="en-US" sz="2600" dirty="0"/>
          </a:p>
        </p:txBody>
      </p:sp>
      <p:sp>
        <p:nvSpPr>
          <p:cNvPr id="4" name="Text 2"/>
          <p:cNvSpPr/>
          <p:nvPr/>
        </p:nvSpPr>
        <p:spPr>
          <a:xfrm>
            <a:off x="502920" y="777240"/>
            <a:ext cx="8046720" cy="365760"/>
          </a:xfrm>
          <a:prstGeom prst="rect">
            <a:avLst/>
          </a:prstGeom>
          <a:noFill/>
          <a:ln/>
        </p:spPr>
        <p:txBody>
          <a:bodyPr wrap="square" rtlCol="0" anchor="ctr"/>
          <a:lstStyle/>
          <a:p>
            <a:pPr indent="0" marL="0">
              <a:buNone/>
            </a:pPr>
            <a:r>
              <a:rPr lang="en-US" sz="1400" dirty="0">
                <a:solidFill>
                  <a:srgbClr val="555555"/>
                </a:solidFill>
              </a:rPr>
              <a:t>Kullanıcı dostu arayüz ile keşif, randevu ve iş yönetimi tek ekranda</a:t>
            </a:r>
            <a:endParaRPr lang="en-US" sz="1400" dirty="0"/>
          </a:p>
        </p:txBody>
      </p:sp>
      <p:pic>
        <p:nvPicPr>
          <p:cNvPr id="5" name="Image 0" descr="C:\Users\yazilimciemir\source\repos\HairDresser-master\docs\gumus-makas-tanitim\uygulama-ekrani.png">    </p:cNvPr>
          <p:cNvPicPr>
            <a:picLocks noChangeAspect="1"/>
          </p:cNvPicPr>
          <p:nvPr/>
        </p:nvPicPr>
        <p:blipFill>
          <a:blip r:embed="rId1"/>
          <a:srcRect l="0" r="0" t="0" b="0"/>
          <a:stretch/>
        </p:blipFill>
        <p:spPr>
          <a:xfrm>
            <a:off x="2560320" y="1234440"/>
            <a:ext cx="4023360" cy="3840480"/>
          </a:xfrm>
          <a:prstGeom prst="rect">
            <a:avLst/>
          </a:prstGeom>
          <a:effectLst>
            <a:outerShdw sx="100000" sy="100000" kx="0" ky="0" algn="bl" rotWithShape="0" blurRad="101600" dist="38100" dir="2700000">
              <a:srgbClr val="000000">
                <a:alpha val="2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Gümüş Makas Tanıtım</dc:title>
  <dc:subject>Randevu ve İş Yönetimi Ekosistemi</dc:subject>
  <dc:creator>Yavuzan Teknoloji ve Ticaret Ltd. Şti.</dc:creator>
  <cp:lastModifiedBy>Yavuzan Teknoloji ve Ticaret Ltd. Şti.</cp:lastModifiedBy>
  <cp:revision>1</cp:revision>
  <dcterms:created xsi:type="dcterms:W3CDTF">2026-06-22T22:03:55Z</dcterms:created>
  <dcterms:modified xsi:type="dcterms:W3CDTF">2026-06-22T22:03:55Z</dcterms:modified>
</cp:coreProperties>
</file>